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Voz</c:v>
                </c:pt>
              </c:strCache>
            </c:strRef>
          </c:tx>
          <c:spPr>
            <a:solidFill>
              <a:srgbClr val="4A1D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</c:v>
                  </c:pt>
                  <c:pt idx="1">
                    <c:v>Julio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72.4</c:v>
                </c:pt>
                <c:pt idx="1">
                  <c:v>73.8</c:v>
                </c:pt>
                <c:pt idx="2">
                  <c:v>72.1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</c:v>
                  </c:pt>
                  <c:pt idx="1">
                    <c:v>Julio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41.7</c:v>
                </c:pt>
                <c:pt idx="1">
                  <c:v>42.3</c:v>
                </c:pt>
                <c:pt idx="2">
                  <c:v>32.8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Junio</c:v>
                  </c:pt>
                  <c:pt idx="1">
                    <c:v>Julio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67.4</c:v>
                </c:pt>
                <c:pt idx="1">
                  <c:v>68.6</c:v>
                </c:pt>
                <c:pt idx="2">
                  <c:v>65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12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DDD6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12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4A1D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Banca Pnatural</c:v>
                  </c:pt>
                  <c:pt idx="1">
                    <c:v>Crédito</c:v>
                  </c:pt>
                  <c:pt idx="2">
                    <c:v>Cta Ahorros</c:v>
                  </c:pt>
                  <c:pt idx="3">
                    <c:v>Banca_Pjuridica Versión 6</c:v>
                  </c:pt>
                  <c:pt idx="4">
                    <c:v>Peticiones/Quejas/Reclamos</c:v>
                  </c:pt>
                  <c:pt idx="5">
                    <c:v>Tarjeta de Crédito</c:v>
                  </c:pt>
                  <c:pt idx="6">
                    <c:v>Depositos Judiciales o Especiale</c:v>
                  </c:pt>
                  <c:pt idx="7">
                    <c:v>Horarios, Direcciones, telefonos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2089</c:v>
                </c:pt>
                <c:pt idx="1">
                  <c:v>652</c:v>
                </c:pt>
                <c:pt idx="2">
                  <c:v>538</c:v>
                </c:pt>
                <c:pt idx="3">
                  <c:v>444</c:v>
                </c:pt>
                <c:pt idx="4">
                  <c:v>152</c:v>
                </c:pt>
                <c:pt idx="5">
                  <c:v>143</c:v>
                </c:pt>
                <c:pt idx="6">
                  <c:v>124</c:v>
                </c:pt>
                <c:pt idx="7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2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DD6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2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Cancelación no efectiva</c:v>
                  </c:pt>
                  <c:pt idx="1">
                    <c:v>Aplicativos Banco</c:v>
                  </c:pt>
                  <c:pt idx="2">
                    <c:v>Peticiones/Quejas/Reclamos</c:v>
                  </c:pt>
                  <c:pt idx="3">
                    <c:v>Depositos Judiciales o Especiales</c:v>
                  </c:pt>
                  <c:pt idx="4">
                    <c:v>Banca_Pjuridica Versión 4.5</c:v>
                  </c:pt>
                  <c:pt idx="5">
                    <c:v>Desmarcación GMF</c:v>
                  </c:pt>
                  <c:pt idx="6">
                    <c:v>Banca_Pjuridica Versión 6</c:v>
                  </c:pt>
                  <c:pt idx="7">
                    <c:v>Procesos grupo ELITE</c:v>
                  </c:pt>
                  <c:pt idx="8">
                    <c:v>BICO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</c:v>
                </c:pt>
                <c:pt idx="1">
                  <c:v>46.9</c:v>
                </c:pt>
                <c:pt idx="2">
                  <c:v>51.9</c:v>
                </c:pt>
                <c:pt idx="3">
                  <c:v>52.3</c:v>
                </c:pt>
                <c:pt idx="4">
                  <c:v>53.4</c:v>
                </c:pt>
                <c:pt idx="5">
                  <c:v>54.9</c:v>
                </c:pt>
                <c:pt idx="6">
                  <c:v>56.6</c:v>
                </c:pt>
                <c:pt idx="7">
                  <c:v>58.1</c:v>
                </c:pt>
                <c:pt idx="8">
                  <c:v>60.2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12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12700" cap="flat">
              <a:solidFill>
                <a:srgbClr val="DDD6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hoja BBDD Encuestas de los tres consolidados mensuales. 40.738 encuestas con clasificación NPS.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Agosto tiene menos encuestas porque el corte va al día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Banca Pnatural aporta 2.089 detractores, el 38,7% del total del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archivo CONSOLIDADO_agentes.csv trae los 106 agentes con la marca de quién está bajo el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4A1D96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566160"/>
            <a:ext cx="4023360" cy="402336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INDICADOR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NPS Banco Agrario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8B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Junio · Julio · Agosto 2026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673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las malas calificaciones por macroproceso y proceso,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menor NPS y comparativa mes a mes.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280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40.738 encuestas analizadas  ·  106 agentes evaluados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Resumen de los tres meses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a agosto de 2026 · base completa de encuestas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252831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5400000">
              <a:srgbClr val="4A1D9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82496"/>
            <a:ext cx="25283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67,2%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528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del período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24328"/>
            <a:ext cx="2528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menos detractores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4428" y="1536192"/>
            <a:ext cx="252831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5400000">
              <a:srgbClr val="4A1D9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4428" y="1682496"/>
            <a:ext cx="25283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40.738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24428" y="2377440"/>
            <a:ext cx="2528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4428" y="2624328"/>
            <a:ext cx="2528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y chat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8776" y="1536192"/>
            <a:ext cx="252831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5400000">
              <a:srgbClr val="4A1D96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08776" y="1682496"/>
            <a:ext cx="25283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5.397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2377440"/>
            <a:ext cx="2528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2624328"/>
            <a:ext cx="2528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13,2% del total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3124" y="1536192"/>
            <a:ext cx="252831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5400000">
              <a:srgbClr val="4A1D9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93124" y="1682496"/>
            <a:ext cx="25283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 de 106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8993124" y="2377440"/>
            <a:ext cx="2528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bajo el promedio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993124" y="2624328"/>
            <a:ext cx="2528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 o más encuestas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108813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saber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8770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38953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8496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arrastra el indicador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1239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cierra en 39,6% y voz en 72,9%: 33 puntos de diferencia con la misma operación.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" y="4773168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7914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7457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subproceso explica el 28%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0200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«Soporte y acompañamiento en la Banca» aporta 1.497 de los 5.397 detractores.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8770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8953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8496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rompió la tendencia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1239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venía mejorando (68,6%) y agosto cayó a 65,0%. La caída es de chat, no de voz.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4773168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47914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47457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ranking absoluto es injusto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50200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los 29 agentes bajo el promedio son de chat, siendo solo 19 de 106.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= % promotores − % detractores, sobre encuestas con clasificación.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Comparativa mes a 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se sostiene, pero la brecha entre canales se abre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7223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01584" y="1481328"/>
            <a:ext cx="3419856" cy="3703320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57616" y="168249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mes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57616" y="204825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56064" y="20482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67,4%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357616" y="231343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14.616 encuestas · 1.912 detractores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357616" y="252374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72,4%  ·  Chat 41,7%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357616" y="307238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56064" y="307238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68,6%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57616" y="333756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15.933 encuestas · 2.002 detractores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357616" y="354787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73,8%  ·  Chat 42,3%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357616" y="409651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56064" y="4096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65,0%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436168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10.189 encuestas · 1.483 detractores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4572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72,1%  ·  Chat 32,8%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357616" y="479145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cayó 9,5 puntos de julio a agosto. Voz apenas 1,7.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14.616 encuestas · Julio 15.933 · Agosto 10.189.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 y chat no juegan el mismo partido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operación, 33 puntos de diferencia — es el hallazgo más grande del período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73736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048256"/>
            <a:ext cx="4636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035808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33.851 encuestas   ·   3.696 detractores (10,9%)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3284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cada nueve. Voz sostiene el indicador de toda la operación.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17904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74536" y="173736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2048256"/>
            <a:ext cx="4636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3035808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6.887 encuestas   ·   1.701 detractores (24,7%)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33284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cada cuatro clientes atendidos por chat queda insatisfecho.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88136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" y="4169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rompe el chat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44988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0,0%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49011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tecnicas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535838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encuestas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44988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22,7%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584448" y="49011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584448" y="535838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2.113 encuestas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4988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25,5%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9011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Depósitos Especiales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535838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encuestas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851392" y="44988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27,1%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851392" y="49011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Natural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851392" y="535838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encuestas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de cada subproceso dentro del canal chat, mínimo 80 encuestas.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Macroproceso y proceso que más afectan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volumen: dónde se concentran los detractores. Arreglar arriba es lo que más mueve el indicador.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36192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536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todos los detractores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0" y="1929384"/>
            <a:ext cx="3246120" cy="1828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149840" y="1865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38,7%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863072" y="18653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0" y="2414016"/>
            <a:ext cx="1014937" cy="1828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49840" y="2350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12,1%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863072" y="2350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0" y="2898648"/>
            <a:ext cx="838791" cy="1828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49840" y="2834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10,0%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863072" y="28346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3383280"/>
            <a:ext cx="687808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49840" y="3319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8,2%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863072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17,7%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0" y="3867912"/>
            <a:ext cx="234861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149840" y="3803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2,8%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863072" y="38039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0" y="4352544"/>
            <a:ext cx="218086" cy="1828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149840" y="4288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2,6%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863072" y="42885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858000" y="4837176"/>
            <a:ext cx="192922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4984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2,3%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863072" y="47731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20,3%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858000" y="5321808"/>
            <a:ext cx="192922" cy="1828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149840" y="5257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2,3%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863072" y="5257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13,9%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5815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Barra: peso sobre el total de detractores.   Cifra gris: qué tanto de ese proceso califica mal.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macroproceso "Banco Agrario de Colombia" agrupa el 92% de las encuestas, por eso se muestra el proceso.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Dónde peor nos califican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tasa: el NPS de cada macroproceso y proceso, de peor a mejor. Mínimo 150 encuestas.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554480"/>
            <a:ext cx="3794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82712" y="173736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201168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67,2%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982712" y="2688336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general del período.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gráfico está por debajo.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3840480"/>
            <a:ext cx="3794760" cy="173736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82712" y="402336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peores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82712" y="4297680"/>
            <a:ext cx="3282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no efectiva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41,0% · 178 encuestas · 23,0% detractores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Banco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46,9% · 196 encuestas · indisponibilidad de canales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exige un mínimo de 150 encuestas para que el dato no dependa de unas pocas respuestas.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detalle fino: subprocesos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ocho que más detractores aportan en los tres meses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029200" cy="384048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0" y="1517904"/>
            <a:ext cx="1234440" cy="384048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15544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03720" y="1517904"/>
            <a:ext cx="1371600" cy="384048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1554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75320" y="1517904"/>
            <a:ext cx="1234440" cy="384048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5544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TOTAL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509760" y="1517904"/>
            <a:ext cx="960120" cy="384048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0" y="15544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469880" y="1517904"/>
            <a:ext cx="1051560" cy="384048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61320" y="15544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1901952"/>
            <a:ext cx="10881360" cy="420624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19476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947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9.252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947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1.497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1947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27,7%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19476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16,2%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561320" y="1947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61,1%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322576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23682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y/o aclaración condiciones del producto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3682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3.426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3682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452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23682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8,4%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368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13,2%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561320" y="236829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67,3%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2743200"/>
            <a:ext cx="10881360" cy="420624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2788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devolución de llamada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2788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3.992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2788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401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2788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7,4%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0" y="27889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10,0%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561320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73,2%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3163824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2095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Minimo, Total o numero de obligación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760720" y="3209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2.359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995160" y="32095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240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366760" y="3209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4,4%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601200" y="32095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10,2%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561320" y="32095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75,2%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3584448"/>
            <a:ext cx="10881360" cy="420624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36301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de Banca (Pin, Contraseña, Token, Usuario).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760720" y="36301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2.372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995160" y="3630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199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366760" y="36301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3,7%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9601200" y="36301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8,4%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0561320" y="36301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78,5%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" y="4005072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" y="40507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certificaciones y soportes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760720" y="40507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961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995160" y="4050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174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8366760" y="40507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3,2%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9601200" y="40507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18,1%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10561320" y="40507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56,1%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0080" y="4425696"/>
            <a:ext cx="10881360" cy="420624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1520" y="44714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saldo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5760720" y="4471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904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6995160" y="44714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117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8366760" y="4471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2,2%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9601200" y="4471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12,9%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0561320" y="44714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68,4%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40080" y="4846320"/>
            <a:ext cx="10881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1520" y="4892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ofrecimiento de credito / Requisitos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5760720" y="4892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1.065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6995160" y="4892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105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8366760" y="4892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1,9%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9601200" y="48920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9,9%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10561320" y="48920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73,6%</a:t>
            </a:r>
            <a:endParaRPr lang="en-US" sz="1150" dirty="0"/>
          </a:p>
        </p:txBody>
      </p:sp>
      <p:sp>
        <p:nvSpPr>
          <p:cNvPr id="72" name="Text 70"/>
          <p:cNvSpPr txBox="1"/>
          <p:nvPr/>
        </p:nvSpPr>
        <p:spPr>
          <a:xfrm>
            <a:off x="640080" y="5431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«Soporte y acompañamiento en la Banca» concentra 1.497 detractores: más que los siete siguientes juntos.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= porcentaje de encuestas de ese subproceso que califican como detractor.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Agentes con peor NPS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los tres meses · 106 agentes con 50 o más encuestas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45720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1790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97280" y="1481328"/>
            <a:ext cx="443484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0432" y="151790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532120" y="1481328"/>
            <a:ext cx="96012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05272" y="151790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92240" y="1481328"/>
            <a:ext cx="123444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151790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26680" y="1481328"/>
            <a:ext cx="137160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99832" y="151790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98280" y="1481328"/>
            <a:ext cx="118872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71432" y="15179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DETRAC.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287000" y="1481328"/>
            <a:ext cx="123444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60152" y="151790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1847088"/>
            <a:ext cx="1088136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188366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188366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BEJARANO MARTINEZ MARIA DE LOS ANGELES AURORA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05272" y="188366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18836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9832" y="188366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188366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47,1%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360152" y="18836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2212848"/>
            <a:ext cx="1088136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224942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70432" y="224942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YENNY ALEXANDRA MORENO ALEMÁN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05272" y="22494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22494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9832" y="224942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224942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39,2%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360152" y="22494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9,8%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2578608"/>
            <a:ext cx="10881360" cy="365760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261518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70432" y="261518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GOMEZ GONZALEZ MARIA FERNANDA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05272" y="261518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565392" y="261518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99832" y="261518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171432" y="261518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31,7%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360152" y="261518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25,9%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2944368"/>
            <a:ext cx="10881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3232" y="29809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70432" y="298094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RAMIREZ LORAINE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605272" y="298094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565392" y="298094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567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99832" y="29809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171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171432" y="298094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30,2%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360152" y="298094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27,3%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3310128"/>
            <a:ext cx="10881360" cy="365760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13232" y="334670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170432" y="334670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AMAYA JHON JAIRO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605272" y="334670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565392" y="334670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907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799832" y="334670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275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171432" y="33467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30,3%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10360152" y="334670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30,5%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" y="3675888"/>
            <a:ext cx="10881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13232" y="371246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1170432" y="371246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GUTIERREZ ABELLA FRANCY LILIANA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5605272" y="371246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565392" y="37124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301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799832" y="371246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85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171432" y="371246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28,2%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10360152" y="37124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32,6%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40080" y="4041648"/>
            <a:ext cx="10881360" cy="365760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13232" y="407822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1170432" y="407822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FELIPE CABRERA MOCETON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5605272" y="40782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565392" y="40782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277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799832" y="407822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9171432" y="407822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24,9%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10360152" y="40782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37,2%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40080" y="4407408"/>
            <a:ext cx="10881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13232" y="444398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1170432" y="444398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OLAVE NIÑO LAURA VALENTINA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5605272" y="444398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6565392" y="444398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653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799832" y="444398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156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9171432" y="444398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23,9%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10360152" y="444398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40,7%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40080" y="4773168"/>
            <a:ext cx="10881360" cy="365760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13232" y="48097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1170432" y="480974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KATHLEEN SMITH ARZUZA LLERENA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5605272" y="480974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6565392" y="480974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681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7799832" y="48097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159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9171432" y="480974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23,3%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10360152" y="480974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42,9%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40080" y="5138928"/>
            <a:ext cx="10881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13232" y="517550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1170432" y="5175504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AMADOR GUTIERREZ JOSE DAVID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5605272" y="517550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517550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768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7799832" y="517550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172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9171432" y="51755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22,4%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10360152" y="517550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44,8%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40080" y="5650992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14400" y="57607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con la lectura.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los 29 agentes bajo el promedio son de chat, cuando chat solo tiene 19 de los 106 agentes. No atienden peor: el canal parte 33 puntos abajo. La comparación justa está en la lámina siguiente.</a:t>
            </a:r>
            <a:endParaRPr lang="en-US" sz="1100" dirty="0"/>
          </a:p>
        </p:txBody>
      </p:sp>
      <p:sp>
        <p:nvSpPr>
          <p:cNvPr id="100" name="Text 98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listan los 10 peores. En total 29 agentes están por debajo del NPS general (67,2%).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comparación justa: cada agente contra su canal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se compara con 72,9% y chat con 39,6% — así se ve quién de verdad está por debajo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448056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5448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120640" y="1517904"/>
            <a:ext cx="100584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93792" y="155448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26480" y="1517904"/>
            <a:ext cx="128016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99632" y="155448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06640" y="1517904"/>
            <a:ext cx="123444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79792" y="155448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641080" y="1517904"/>
            <a:ext cx="169164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14232" y="15544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CANAL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332720" y="1517904"/>
            <a:ext cx="1645920" cy="365760"/>
          </a:xfrm>
          <a:prstGeom prst="rect">
            <a:avLst/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05872" y="15544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1883664"/>
            <a:ext cx="108813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1929384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BEJARANO MARTINEZ MARIA DE LOS ANGELES AURORA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1929384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192938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102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479792" y="192938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192938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405872" y="19293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-38,6 pts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267712"/>
            <a:ext cx="108813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231343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YENNY ALEXANDRA MORENO ALEMÁN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193792" y="23134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231343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51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23134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9,8%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14232" y="2313432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405872" y="23134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-29,8 pts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2651760"/>
            <a:ext cx="108813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269748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CASTIBLANCO VALENCIA DANIEL FELIPE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193792" y="269748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269748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348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479792" y="269748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46,6%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714232" y="26974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405872" y="26974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-26,3 pts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3035808"/>
            <a:ext cx="108813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" y="3081528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Andreina Oliveros Mejia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193792" y="30815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199632" y="308152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479792" y="308152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57,1%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714232" y="308152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405872" y="30815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-15,8 pts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3419856"/>
            <a:ext cx="108813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3232" y="3465576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TEJADA VALENZUELA JHON FERNANDO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193792" y="346557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199632" y="346557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7479792" y="34655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57,4%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714232" y="346557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0405872" y="34655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-15,5 pts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" y="3803904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3232" y="3849624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GOMEZ GONZALEZ MARIA FERNANDA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193792" y="3849624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199632" y="384962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486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7479792" y="384962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25,9%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8714232" y="384962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10405872" y="384962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-13,7 pts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0080" y="4187952"/>
            <a:ext cx="10881360" cy="384048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13232" y="4233672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RAMIREZ LORAINE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5193792" y="423367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Chat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6199632" y="42336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567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7479792" y="423367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27,3%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8714232" y="4233672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0405872" y="42336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-12,3 pts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40080" y="4572000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13232" y="461772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OROBIO TAPIERO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5193792" y="461772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6199632" y="461772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7479792" y="461772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61,1%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8714232" y="461772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10405872" y="461772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-11,8 pts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640080" y="4956048"/>
            <a:ext cx="10881360" cy="384048"/>
          </a:xfrm>
          <a:prstGeom prst="rect">
            <a:avLst/>
          </a:prstGeom>
          <a:solidFill>
            <a:srgbClr val="FCFA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13232" y="5001768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MARCIALES HERNANDEZ CLAUDIA LILIANA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5193792" y="500176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</a:t>
            </a:r>
            <a:endParaRPr lang="en-US" sz="1150" dirty="0"/>
          </a:p>
        </p:txBody>
      </p:sp>
      <p:sp>
        <p:nvSpPr>
          <p:cNvPr id="75" name="Text 73"/>
          <p:cNvSpPr txBox="1"/>
          <p:nvPr/>
        </p:nvSpPr>
        <p:spPr>
          <a:xfrm>
            <a:off x="6199632" y="500176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7479792" y="500176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61,9%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8714232" y="50017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1150" dirty="0"/>
          </a:p>
        </p:txBody>
      </p:sp>
      <p:sp>
        <p:nvSpPr>
          <p:cNvPr id="78" name="Text 76"/>
          <p:cNvSpPr txBox="1"/>
          <p:nvPr/>
        </p:nvSpPr>
        <p:spPr>
          <a:xfrm>
            <a:off x="10405872" y="500176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-11 pts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640080" y="5340096"/>
            <a:ext cx="10881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13232" y="5385816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ESTEBAN VARGAS ARISMENDY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5193792" y="538581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Voz</a:t>
            </a:r>
            <a:endParaRPr lang="en-US" sz="1150" dirty="0"/>
          </a:p>
        </p:txBody>
      </p:sp>
      <p:sp>
        <p:nvSpPr>
          <p:cNvPr id="82" name="Text 80"/>
          <p:cNvSpPr txBox="1"/>
          <p:nvPr/>
        </p:nvSpPr>
        <p:spPr>
          <a:xfrm>
            <a:off x="6199632" y="538581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310</a:t>
            </a:r>
            <a:endParaRPr lang="en-US" sz="1150" dirty="0"/>
          </a:p>
        </p:txBody>
      </p:sp>
      <p:sp>
        <p:nvSpPr>
          <p:cNvPr id="83" name="Text 81"/>
          <p:cNvSpPr txBox="1"/>
          <p:nvPr/>
        </p:nvSpPr>
        <p:spPr>
          <a:xfrm>
            <a:off x="7479792" y="53858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62,6%</a:t>
            </a:r>
            <a:endParaRPr lang="en-US" sz="1150" dirty="0"/>
          </a:p>
        </p:txBody>
      </p:sp>
      <p:sp>
        <p:nvSpPr>
          <p:cNvPr id="84" name="Text 82"/>
          <p:cNvSpPr txBox="1"/>
          <p:nvPr/>
        </p:nvSpPr>
        <p:spPr>
          <a:xfrm>
            <a:off x="8714232" y="538581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72,9%</a:t>
            </a:r>
            <a:endParaRPr lang="en-US" sz="1150" dirty="0"/>
          </a:p>
        </p:txBody>
      </p:sp>
      <p:sp>
        <p:nvSpPr>
          <p:cNvPr id="85" name="Text 83"/>
          <p:cNvSpPr txBox="1"/>
          <p:nvPr/>
        </p:nvSpPr>
        <p:spPr>
          <a:xfrm>
            <a:off x="10405872" y="538581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-10,3 pts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640080" y="5907024"/>
            <a:ext cx="52806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96112" y="6035040"/>
            <a:ext cx="4768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cambian de lugar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896112" y="627278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Felipe Castiblanco sube al 3.º puesto: su 46,6% en voz es peor que un 30% en chat.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240780" y="5907024"/>
            <a:ext cx="52806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496812" y="6035040"/>
            <a:ext cx="4768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se confirman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6496812" y="627278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Bejarano y Moreno siguen de primeras: −38,6 y −29,8 puntos contra su propio canal.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= NPS del agente menos el NPS de su canal. Ordenado de la brecha más negativa.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qué se le van las malas notas a cada uno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Subproceso donde se concentran los detractores de los cinco agentes con menor NPS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737360"/>
            <a:ext cx="2968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BEJARANO MARTINEZ MARIA DE LOS ANGELES AURORA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31136"/>
            <a:ext cx="2968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detractores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237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39,6%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23744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862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12,5%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862072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y/o aclaración condiciones del producto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2004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10,4%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200400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Minimo, Total o numero de obligación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8640" y="155448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6384" y="1737360"/>
            <a:ext cx="2968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YENNY ALEXANDRA MORENO ALEMÁN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6384" y="2231136"/>
            <a:ext cx="2968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detractores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96384" y="25237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35,0%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73040" y="2523744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96384" y="2862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5,0%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73040" y="2862072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solicitud de crédito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96384" y="32004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5,0%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73040" y="3200400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Radicación de PQR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77200" y="155448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14944" y="1737360"/>
            <a:ext cx="2968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GOMEZ GONZALEZ MARIA FERNANDA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14944" y="2231136"/>
            <a:ext cx="2968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detractores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14944" y="25237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42,2%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91600" y="2523744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14944" y="2862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7,8%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91600" y="2862072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certificaciones y soportes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314944" y="32004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5,2%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991600" y="3200400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Minimo, Total o numero de obligación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3675888"/>
            <a:ext cx="53035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" y="384048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RAMIREZ LORAINE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" y="409651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detractores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" y="43708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40,9%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554480" y="437083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645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13,5%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464515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y/o aclaración condiciones del producto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" y="49194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7,0%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554480" y="491947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certificaciones y soportes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675888"/>
            <a:ext cx="53035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55664" y="384048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AMAYA JHON JAIRO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55664" y="409651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detractores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55664" y="43708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53,8%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132320" y="437083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acompañamiento en la Banca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455664" y="4645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10,9%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32320" y="464515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y/o aclaración condiciones del producto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455664" y="49194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D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6,2%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0" y="491947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Depósitos Especiales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321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 los cinco fallan en el mismo sitio: «Soporte y acompañamiento en la Banca». No es un problema de persona, es del proceso.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sobre los detractores propios de cada agente.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0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4A1D9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583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92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Dónde poner el foco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110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856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antes que agentes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15798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está 33 puntos bajo voz y explica la caída de agosto. Con 6.887 encuestas concentra 1.701 detractores.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8437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«Soporte y acompañamiento en la Banca»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4553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1.497 detractores, el 27,7% del total. En chat ese subproceso cierra en 22,7% de NPS sobre 2.113 encuestas.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5876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862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313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no efectiva y Aplicativos Banco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1330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41,0% y 46,9%. Volumen bajo pero tasa de insatisfacción alta: se corrigen rápido y sin costo.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8737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8188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a 5 agentes, no a 29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120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su propio canal, solo cinco quedan más de 15 puntos abajo. Los demás están dentro del rango del canal.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870448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4A1D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98932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40.738 encuestas · junio a agosto de 2026 · hoja BBDD Encuestas de los tres consolidados mensuales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se calculó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cualquiera pueda reproducir estos números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06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66544"/>
            <a:ext cx="4732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«BBDD Encuestas» de los tres consolidados mensuales. Es la base cruda de respuestas; las demás hojas del archivo son resúmenes calculados sobre ella.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0780" y="1554480"/>
            <a:ext cx="52806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5100" y="175564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15100" y="2066544"/>
            <a:ext cx="4732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= % promotores − % detractores, sobre las encuestas con clasificación. Los neutros cuentan en la base pero no suman ni restan.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2806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3016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ESCALAS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941064"/>
            <a:ext cx="4732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califica de 0 a 9 (promotor 8–9) y chat de 0 a 10 (promotor 9–10). Un 8 es promotor en voz y neutro en chat, por eso se usa la clasificación del archivo y no la nota cruda.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0780" y="3429000"/>
            <a:ext cx="52806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5100" y="3630168"/>
            <a:ext cx="4732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3941064"/>
            <a:ext cx="47320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Agentes: 50 encuestas en los tres meses (106 de 141 califican). Procesos: 150 encuestas. Subprocesos: 100. Sin ese piso, un puñado de respuestas malas distorsiona el ranking.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315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entregan además los archivos con el detalle completo: los 106 agentes, el motivo por macroproceso, proceso y subproceso, y el evolutivo mensual.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la supervisión de Skill Inbound · agosto de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NPS Banco Agrario — Junio a Agosto 2026</dc:title>
  <dc:subject>PptxGenJS Presentation</dc:subject>
  <dc:creator>Supervisión Skill Inbound</dc:creator>
  <cp:lastModifiedBy>Supervisión Skill Inbound</cp:lastModifiedBy>
  <cp:revision>1</cp:revision>
  <dcterms:created xsi:type="dcterms:W3CDTF">2026-08-27T00:42:49Z</dcterms:created>
  <dcterms:modified xsi:type="dcterms:W3CDTF">2026-08-27T00:42:49Z</dcterms:modified>
</cp:coreProperties>
</file>