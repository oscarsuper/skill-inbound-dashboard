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Inbound</c:v>
                </c:pt>
              </c:strCache>
            </c:strRef>
          </c:tx>
          <c:spPr>
            <a:solidFill>
              <a:srgbClr val="4A1D96"/>
            </a:solidFill>
            <a:ln w="38100" cap="flat">
              <a:solidFill>
                <a:srgbClr val="4A1D96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235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4A1D96"/>
              </a:solidFill>
              <a:ln w="9525" cap="flat">
                <a:solidFill>
                  <a:srgbClr val="4A1D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Junio</c:v>
                  </c:pt>
                  <c:pt idx="1">
                    <c:v>Julio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72.4</c:v>
                </c:pt>
                <c:pt idx="1">
                  <c:v>73.8</c:v>
                </c:pt>
                <c:pt idx="2">
                  <c:v>72.1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235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Junio</c:v>
                  </c:pt>
                  <c:pt idx="1">
                    <c:v>Julio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41.7</c:v>
                </c:pt>
                <c:pt idx="1">
                  <c:v>42.3</c:v>
                </c:pt>
                <c:pt idx="2">
                  <c:v>32.8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1235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DDD6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123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645920"/>
            <a:ext cx="5120640" cy="5120640"/>
          </a:xfrm>
          <a:prstGeom prst="ellipse">
            <a:avLst/>
          </a:prstGeom>
          <a:solidFill>
            <a:srgbClr val="4A1D9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INDICADOR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14016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 Promoter Score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3697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Junio, julio y agosto de 2026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0390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mensual, resultado por tipificación y agentes con menor calificación. Inbound y Chat se presentan por separado.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40.738 encuestas  ·  Inbound 33.851  ·  Chat 6.887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 del período por skill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= porcentaje de promotores menos porcentaje de detractores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7276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910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8366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72,9%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33.851 encuestas   ·   3.696 detractores   ·   10,9% de insatisfacción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4436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Promotores 28.366  ·  Neutros 1.789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57276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5910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88366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39,6%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65176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6.887 encuestas   ·   1.701 detractores   ·   24,7% de insatisfacción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94436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Promotores 4.426  ·  Neutros 760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56432"/>
            <a:ext cx="22402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348386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80360" y="3456432"/>
            <a:ext cx="105156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4368" y="34838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0" y="3456432"/>
            <a:ext cx="96012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95928" y="3483864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3456432"/>
            <a:ext cx="10058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56048" y="348386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3785616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381304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944368" y="381304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12.215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995928" y="381304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1.347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956048" y="381304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72,4%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096512"/>
            <a:ext cx="5257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41239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2944368" y="412394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13.287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995928" y="4123944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1.388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956048" y="412394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73,8%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407408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" y="443484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2944368" y="443484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8.349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995928" y="4434840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961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956048" y="443484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72,1%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456432"/>
            <a:ext cx="22402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27648" y="348386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503920" y="3456432"/>
            <a:ext cx="105156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67928" y="34838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555480" y="3456432"/>
            <a:ext cx="96012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19488" y="3483864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515600" y="3456432"/>
            <a:ext cx="10058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79608" y="348386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3785616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27648" y="381304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567928" y="381304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2.401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619488" y="381304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565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579608" y="381304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41,7%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4096512"/>
            <a:ext cx="5257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27648" y="41239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8567928" y="412394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2.646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9619488" y="4123944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614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0579608" y="412394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42,3%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63640" y="4407408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27648" y="443484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8567928" y="443484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1.840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9619488" y="4434840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522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10579608" y="443484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32,8%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0080" y="4974336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skills no son comparables entre sí. </a:t>
            </a:r>
            <a:pPr indent="0" marL="0">
              <a:buNone/>
            </a:pPr>
            <a:r>
              <a:rPr lang="en-US" sz="11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cierra en 72,9% y Chat en 39,6%: 33 puntos de diferencia sostenidos en los tres meses. Todo el informe los presenta por separado.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hoja BBDD Encuestas de los consolidados mensuales de junio, julio y agosto de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Comparativa mensual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NPS de cada skill en el período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426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JULIO A AGOSTO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863840" y="1755648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92440" y="19385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19568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2677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-1,7 pts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724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73,8% → 72,1%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3273552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92440" y="34564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3474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78561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-9,5 pts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42,3% → 32,8%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63840" y="4791456"/>
            <a:ext cx="3657600" cy="896112"/>
          </a:xfrm>
          <a:prstGeom prst="roundRect">
            <a:avLst>
              <a:gd name="adj" fmla="val 9184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244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de agosto es de Chat. Inbound se mantiene dentro de su rango habitual.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corresponde al corte hasta el día 20; los demás meses son completos.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Tipificación que más afecta — Inbound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ordenados por cantidad de detractores aportados. NPS del skill: 72,9%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6988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9880" y="4754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2918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39903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31920" y="1371600"/>
            <a:ext cx="10058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95928" y="13990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96012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01768" y="1399032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1371600"/>
            <a:ext cx="105156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61888" y="1399032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TOTAL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0" y="1371600"/>
            <a:ext cx="7772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13448" y="1399032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1371600"/>
            <a:ext cx="7772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90688" y="1399032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03920" y="1371600"/>
            <a:ext cx="8686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67928" y="139903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72600" y="1371600"/>
            <a:ext cx="82296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36608" y="139903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195560" y="1371600"/>
            <a:ext cx="91440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9568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1700784"/>
            <a:ext cx="1046988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172821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Pnatural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995928" y="172821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14.708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01768" y="1728216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1.448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961888" y="17282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39,2%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013448" y="172821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172821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551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67928" y="1728216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436608" y="172821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9,8%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259568" y="172821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74,9%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2011680"/>
            <a:ext cx="10469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" y="203911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995928" y="203911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4.543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001768" y="203911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61888" y="2039112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11,2%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013448" y="203911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790688" y="203911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567928" y="2039112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436608" y="203911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9,1%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259568" y="20391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77,4%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2322576"/>
            <a:ext cx="1046988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4088" y="235000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Ahorros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3995928" y="235000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3.090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001768" y="235000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341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961888" y="235000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9,2%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013448" y="2350008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102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790688" y="2350008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139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67928" y="235000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436608" y="235000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11,0%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259568" y="235000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72,6%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2633472"/>
            <a:ext cx="10469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4088" y="266090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Banca_Pjuridica Versión 6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3995928" y="266090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2.166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001768" y="2660904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336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961888" y="266090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9,1%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013448" y="2660904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90688" y="2660904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91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567928" y="2660904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175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436608" y="2660904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15,5%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259568" y="266090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62,1%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0080" y="2944368"/>
            <a:ext cx="1046988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04088" y="297180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Peticiones/Quejas/Reclamos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3995928" y="297180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726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5001768" y="2971800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126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5961888" y="297180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3,4%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013448" y="2971800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7790688" y="2971800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54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8567928" y="297180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9436608" y="297180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17,4%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10259568" y="29718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56,5%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0080" y="3255264"/>
            <a:ext cx="10469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04088" y="32826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Crédito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3995928" y="328269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1.276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5001768" y="3282696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122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5961888" y="328269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3,3%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7013448" y="328269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7790688" y="328269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8567928" y="3282696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9436608" y="328269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9,6%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10259568" y="328269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77,6%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40080" y="3566160"/>
            <a:ext cx="1046988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04088" y="35935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Debito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3995928" y="359359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1.191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5001768" y="359359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105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5961888" y="3593592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2,8%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7013448" y="359359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7790688" y="359359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8567928" y="3593592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9436608" y="359359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8,8%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10259568" y="35935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77,7%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640080" y="39684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Junio, Julio y Agosto: detractores aportados en cada mes.</a:t>
            </a:r>
            <a:endParaRPr lang="en-US" sz="950" dirty="0"/>
          </a:p>
        </p:txBody>
      </p:sp>
      <p:sp>
        <p:nvSpPr>
          <p:cNvPr id="95" name="Text 93"/>
          <p:cNvSpPr txBox="1"/>
          <p:nvPr/>
        </p:nvSpPr>
        <p:spPr>
          <a:xfrm>
            <a:off x="640080" y="43342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SUBPROCESOS CON MENOR NPS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40080" y="4626864"/>
            <a:ext cx="2528316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41248" y="4736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45,3%</a:t>
            </a:r>
            <a:endParaRPr lang="en-US" sz="2100" dirty="0"/>
          </a:p>
        </p:txBody>
      </p:sp>
      <p:sp>
        <p:nvSpPr>
          <p:cNvPr id="98" name="Text 96"/>
          <p:cNvSpPr txBox="1"/>
          <p:nvPr/>
        </p:nvSpPr>
        <p:spPr>
          <a:xfrm>
            <a:off x="841248" y="512064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 transferencias o pagos por PSE</a:t>
            </a:r>
            <a:endParaRPr lang="en-US" sz="950" dirty="0"/>
          </a:p>
        </p:txBody>
      </p:sp>
      <p:sp>
        <p:nvSpPr>
          <p:cNvPr id="99" name="Text 97"/>
          <p:cNvSpPr txBox="1"/>
          <p:nvPr/>
        </p:nvSpPr>
        <p:spPr>
          <a:xfrm>
            <a:off x="841248" y="5431536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encuestas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424428" y="4626864"/>
            <a:ext cx="2528316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625596" y="4736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51,5%</a:t>
            </a:r>
            <a:endParaRPr lang="en-US" sz="2100" dirty="0"/>
          </a:p>
        </p:txBody>
      </p:sp>
      <p:sp>
        <p:nvSpPr>
          <p:cNvPr id="102" name="Text 100"/>
          <p:cNvSpPr txBox="1"/>
          <p:nvPr/>
        </p:nvSpPr>
        <p:spPr>
          <a:xfrm>
            <a:off x="3625596" y="512064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Estado actual de PQR</a:t>
            </a:r>
            <a:endParaRPr lang="en-US" sz="950" dirty="0"/>
          </a:p>
        </p:txBody>
      </p:sp>
      <p:sp>
        <p:nvSpPr>
          <p:cNvPr id="103" name="Text 101"/>
          <p:cNvSpPr txBox="1"/>
          <p:nvPr/>
        </p:nvSpPr>
        <p:spPr>
          <a:xfrm>
            <a:off x="3625596" y="5431536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encuestas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208776" y="4626864"/>
            <a:ext cx="2528316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409944" y="4736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59,8%</a:t>
            </a:r>
            <a:endParaRPr lang="en-US" sz="2100" dirty="0"/>
          </a:p>
        </p:txBody>
      </p:sp>
      <p:sp>
        <p:nvSpPr>
          <p:cNvPr id="106" name="Text 104"/>
          <p:cNvSpPr txBox="1"/>
          <p:nvPr/>
        </p:nvSpPr>
        <p:spPr>
          <a:xfrm>
            <a:off x="6409944" y="512064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Asesoria y acompañamiento en Bico</a:t>
            </a:r>
            <a:endParaRPr lang="en-US" sz="950" dirty="0"/>
          </a:p>
        </p:txBody>
      </p:sp>
      <p:sp>
        <p:nvSpPr>
          <p:cNvPr id="107" name="Text 105"/>
          <p:cNvSpPr txBox="1"/>
          <p:nvPr/>
        </p:nvSpPr>
        <p:spPr>
          <a:xfrm>
            <a:off x="6409944" y="5431536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encuestas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8993124" y="4626864"/>
            <a:ext cx="2528316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194292" y="4736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63,0%</a:t>
            </a:r>
            <a:endParaRPr lang="en-US" sz="2100" dirty="0"/>
          </a:p>
        </p:txBody>
      </p:sp>
      <p:sp>
        <p:nvSpPr>
          <p:cNvPr id="110" name="Text 108"/>
          <p:cNvSpPr txBox="1"/>
          <p:nvPr/>
        </p:nvSpPr>
        <p:spPr>
          <a:xfrm>
            <a:off x="9194292" y="512064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Radicación de PQR</a:t>
            </a:r>
            <a:endParaRPr lang="en-US" sz="950" dirty="0"/>
          </a:p>
        </p:txBody>
      </p:sp>
      <p:sp>
        <p:nvSpPr>
          <p:cNvPr id="111" name="Text 109"/>
          <p:cNvSpPr txBox="1"/>
          <p:nvPr/>
        </p:nvSpPr>
        <p:spPr>
          <a:xfrm>
            <a:off x="9194292" y="5431536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 encuestas</a:t>
            </a:r>
            <a:endParaRPr lang="en-US" sz="900" dirty="0"/>
          </a:p>
        </p:txBody>
      </p:sp>
      <p:sp>
        <p:nvSpPr>
          <p:cNvPr id="112" name="Text 110"/>
          <p:cNvSpPr txBox="1"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120 encuestas por proceso y 100 por subproceso para el cálculo de NPS.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Tipificación que más afecta — Chat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ordenados por cantidad de detractores aportados. NPS del skill: 39,6%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6988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9880" y="4754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2918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39903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31920" y="1371600"/>
            <a:ext cx="10058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95928" y="13990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96012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01768" y="1399032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1371600"/>
            <a:ext cx="105156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61888" y="1399032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TOTAL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0" y="1371600"/>
            <a:ext cx="7772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13448" y="1399032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1371600"/>
            <a:ext cx="7772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90688" y="1399032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03920" y="1371600"/>
            <a:ext cx="8686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67928" y="139903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72600" y="1371600"/>
            <a:ext cx="82296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36608" y="139903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195560" y="1371600"/>
            <a:ext cx="91440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9568" y="13990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1700784"/>
            <a:ext cx="1046988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172821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Pnatural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995928" y="172821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1.984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01768" y="1728216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641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961888" y="17282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37,7%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013448" y="172821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172821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67928" y="1728216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436608" y="172821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32,3%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259568" y="172821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23,9%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2011680"/>
            <a:ext cx="10469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" y="203911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995928" y="203911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1.621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001768" y="203911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237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61888" y="2039112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13,9%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013448" y="203911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790688" y="203911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567928" y="2039112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74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436608" y="203911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14,6%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259568" y="20391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62,4%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2322576"/>
            <a:ext cx="1046988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4088" y="235000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Ahorros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3995928" y="235000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773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001768" y="235000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197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961888" y="235000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11,6%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013448" y="2350008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49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790688" y="2350008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87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67928" y="235000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436608" y="235000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25,5%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259568" y="235000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37,6%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2633472"/>
            <a:ext cx="10469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4088" y="266090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Banca_Pjuridica Versión 6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3995928" y="266090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342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001768" y="2660904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108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961888" y="266090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6,3%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013448" y="2660904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90688" y="2660904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567928" y="2660904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436608" y="2660904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31,6%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259568" y="266090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21,3%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0080" y="2944368"/>
            <a:ext cx="1046988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04088" y="297180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BICO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3995928" y="297180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307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5001768" y="2971800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66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5961888" y="297180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3,9%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013448" y="2971800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7790688" y="2971800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8567928" y="297180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9436608" y="297180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21,5%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10259568" y="29718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48,9%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0080" y="3255264"/>
            <a:ext cx="10469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04088" y="32826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Depositos Judiciales o Especiales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3995928" y="328269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218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5001768" y="3282696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64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5961888" y="328269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3,8%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7013448" y="328269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7790688" y="328269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8567928" y="3282696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9436608" y="328269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29,4%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10259568" y="328269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33,9%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40080" y="3566160"/>
            <a:ext cx="1046988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04088" y="35935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Direcciones, telefonos,…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3995928" y="359359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175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5001768" y="359359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52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5961888" y="3593592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3,1%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7013448" y="359359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7790688" y="359359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8567928" y="3593592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9436608" y="359359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29,7%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10259568" y="35935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28,6%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640080" y="39684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Junio, Julio y Agosto: detractores aportados en cada mes.</a:t>
            </a:r>
            <a:endParaRPr lang="en-US" sz="950" dirty="0"/>
          </a:p>
        </p:txBody>
      </p:sp>
      <p:sp>
        <p:nvSpPr>
          <p:cNvPr id="95" name="Text 93"/>
          <p:cNvSpPr txBox="1"/>
          <p:nvPr/>
        </p:nvSpPr>
        <p:spPr>
          <a:xfrm>
            <a:off x="640080" y="43342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SUBPROCESOS CON MENOR NPS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40080" y="4626864"/>
            <a:ext cx="2528316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41248" y="4736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-11,6%</a:t>
            </a:r>
            <a:endParaRPr lang="en-US" sz="2100" dirty="0"/>
          </a:p>
        </p:txBody>
      </p:sp>
      <p:sp>
        <p:nvSpPr>
          <p:cNvPr id="98" name="Text 96"/>
          <p:cNvSpPr txBox="1"/>
          <p:nvPr/>
        </p:nvSpPr>
        <p:spPr>
          <a:xfrm>
            <a:off x="841248" y="512064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Estado actual de PQR</a:t>
            </a:r>
            <a:endParaRPr lang="en-US" sz="950" dirty="0"/>
          </a:p>
        </p:txBody>
      </p:sp>
      <p:sp>
        <p:nvSpPr>
          <p:cNvPr id="99" name="Text 97"/>
          <p:cNvSpPr txBox="1"/>
          <p:nvPr/>
        </p:nvSpPr>
        <p:spPr>
          <a:xfrm>
            <a:off x="841248" y="5431536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encuestas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424428" y="4626864"/>
            <a:ext cx="2528316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625596" y="4736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0,0%</a:t>
            </a:r>
            <a:endParaRPr lang="en-US" sz="2100" dirty="0"/>
          </a:p>
        </p:txBody>
      </p:sp>
      <p:sp>
        <p:nvSpPr>
          <p:cNvPr id="102" name="Text 100"/>
          <p:cNvSpPr txBox="1"/>
          <p:nvPr/>
        </p:nvSpPr>
        <p:spPr>
          <a:xfrm>
            <a:off x="3625596" y="512064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tecnicas</a:t>
            </a:r>
            <a:endParaRPr lang="en-US" sz="950" dirty="0"/>
          </a:p>
        </p:txBody>
      </p:sp>
      <p:sp>
        <p:nvSpPr>
          <p:cNvPr id="103" name="Text 101"/>
          <p:cNvSpPr txBox="1"/>
          <p:nvPr/>
        </p:nvSpPr>
        <p:spPr>
          <a:xfrm>
            <a:off x="3625596" y="5431536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encuestas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208776" y="4626864"/>
            <a:ext cx="2528316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409944" y="4736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22,7%</a:t>
            </a:r>
            <a:endParaRPr lang="en-US" sz="2100" dirty="0"/>
          </a:p>
        </p:txBody>
      </p:sp>
      <p:sp>
        <p:nvSpPr>
          <p:cNvPr id="106" name="Text 104"/>
          <p:cNvSpPr txBox="1"/>
          <p:nvPr/>
        </p:nvSpPr>
        <p:spPr>
          <a:xfrm>
            <a:off x="6409944" y="512064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en la Banca</a:t>
            </a:r>
            <a:endParaRPr lang="en-US" sz="950" dirty="0"/>
          </a:p>
        </p:txBody>
      </p:sp>
      <p:sp>
        <p:nvSpPr>
          <p:cNvPr id="107" name="Text 105"/>
          <p:cNvSpPr txBox="1"/>
          <p:nvPr/>
        </p:nvSpPr>
        <p:spPr>
          <a:xfrm>
            <a:off x="6409944" y="5431536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2.113 encuestas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8993124" y="4626864"/>
            <a:ext cx="2528316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194292" y="4736592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23,4%</a:t>
            </a:r>
            <a:endParaRPr lang="en-US" sz="2100" dirty="0"/>
          </a:p>
        </p:txBody>
      </p:sp>
      <p:sp>
        <p:nvSpPr>
          <p:cNvPr id="110" name="Text 108"/>
          <p:cNvSpPr txBox="1"/>
          <p:nvPr/>
        </p:nvSpPr>
        <p:spPr>
          <a:xfrm>
            <a:off x="9194292" y="512064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Radicación de PQR</a:t>
            </a:r>
            <a:endParaRPr lang="en-US" sz="950" dirty="0"/>
          </a:p>
        </p:txBody>
      </p:sp>
      <p:sp>
        <p:nvSpPr>
          <p:cNvPr id="111" name="Text 109"/>
          <p:cNvSpPr txBox="1"/>
          <p:nvPr/>
        </p:nvSpPr>
        <p:spPr>
          <a:xfrm>
            <a:off x="9194292" y="5431536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encuestas</a:t>
            </a:r>
            <a:endParaRPr lang="en-US" sz="900" dirty="0"/>
          </a:p>
        </p:txBody>
      </p:sp>
      <p:sp>
        <p:nvSpPr>
          <p:cNvPr id="112" name="Text 110"/>
          <p:cNvSpPr txBox="1"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40 encuestas por proceso y por subproceso, dado el menor volumen del skill.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Detractores por macroproceso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skills sobre la misma clasificación. El macroproceso «Banco Agrario de Colombia» agrupa la operación general.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773936"/>
            <a:ext cx="29260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80136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MACROPROCESO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66160" y="1773936"/>
            <a:ext cx="8686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180136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34840" y="1773936"/>
            <a:ext cx="7772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801368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12080" y="1773936"/>
            <a:ext cx="68580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76088" y="180136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" y="213055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Agrario de Colombia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2130552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31.409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213055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3.352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276088" y="213055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73,5%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414016"/>
            <a:ext cx="5257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" y="244144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Indisponibilidad de canales…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30168" y="24414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565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498848" y="2441448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76088" y="2441448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69,7%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2724912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275234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o Cancelación TC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630168" y="2752344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269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498848" y="2752344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752344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48,0%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035808"/>
            <a:ext cx="5257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306324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GMF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630168" y="30632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349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498848" y="3063240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063240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67,3%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3346704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" y="337413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Llamada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630168" y="3374136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498848" y="337413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276088" y="3374136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60,3%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3657600"/>
            <a:ext cx="5257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4088" y="36850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Oficinas / Corr…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630168" y="3685032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498848" y="368503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276088" y="368503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57,8%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13716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63640" y="13898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1773936"/>
            <a:ext cx="29260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7648" y="180136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MACROPROCESO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189720" y="1773936"/>
            <a:ext cx="8686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53728" y="180136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058400" y="1773936"/>
            <a:ext cx="7772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122408" y="1801368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835640" y="1773936"/>
            <a:ext cx="68580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899648" y="180136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63640" y="2103120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27648" y="213055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Agrario de Colombia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253728" y="2130552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6.175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0122408" y="213055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1.508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0899648" y="213055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40,0%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2414016"/>
            <a:ext cx="5257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27648" y="244144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Indisponibilidad de canales…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9253728" y="24414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175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0122408" y="2441448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899648" y="2441448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16,0%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263640" y="2724912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27648" y="275234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 Ciudadana / Devolució…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9253728" y="2752344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336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10122408" y="2752344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59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10899648" y="2752344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55,1%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63640" y="3035808"/>
            <a:ext cx="5257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327648" y="306324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Oficinas / Corr…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9253728" y="30632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10122408" y="3063240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10899648" y="3063240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31,1%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63640" y="3346704"/>
            <a:ext cx="525780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327648" y="337413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Llamada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9253728" y="3374136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10122408" y="3374136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10899648" y="3374136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-11,1%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263640" y="3657600"/>
            <a:ext cx="5257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327648" y="36850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Mayor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9253728" y="3685032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10122408" y="3685032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10899648" y="368503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86,7%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40080" y="420624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14400" y="4352544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sobre esta clasificación</a:t>
            </a:r>
            <a:endParaRPr lang="en-US" sz="1050" dirty="0"/>
          </a:p>
        </p:txBody>
      </p:sp>
      <p:sp>
        <p:nvSpPr>
          <p:cNvPr id="86" name="Text 84"/>
          <p:cNvSpPr txBox="1"/>
          <p:nvPr/>
        </p:nvSpPr>
        <p:spPr>
          <a:xfrm>
            <a:off x="914400" y="4608576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92% de las encuestas del período se clasifica como «Banco Agrario de Colombia», por lo que el macroproceso no permite distinguir causas. El análisis útil está en el proceso y el subproceso, que sí discriminan. Se recomienda revisar el criterio de tipificación en este nivel.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Macroproceso, proceso y subproceso corresponden a la tipificación registrada en la gestión.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Agentes con menor NPS — Inbound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agentes con 50 o más encuestas en el período. NPS del skill: 72,9%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6988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9880" y="4754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48056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39903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120640" y="1371600"/>
            <a:ext cx="12344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84648" y="139903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12344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39903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89520" y="1371600"/>
            <a:ext cx="12344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53528" y="139903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DETRAC.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823960" y="1371600"/>
            <a:ext cx="114300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87968" y="139903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966960" y="1371600"/>
            <a:ext cx="15544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30968" y="139903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1700784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1728216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CASTIBLANCO VALENCIA DANIEL FELIPE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172821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348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172821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53528" y="172821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23,9%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1728216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46,6%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030968" y="172821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-26,3 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011680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" y="203911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 Andreina Oliveros Mejia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184648" y="203911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203911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653528" y="203911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20,6%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887968" y="203911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57,1%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0968" y="2039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-15,8 pts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2322576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" y="2350008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TEJADA VALENZUELA JHON FERNANDO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184648" y="235000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19088" y="235000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653528" y="235000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18,0%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887968" y="2350008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57,4%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030968" y="23500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-15,5 pts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2633472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4088" y="266090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OROBIO TAPIERO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184648" y="26609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19088" y="26609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653528" y="26609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16,8%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887968" y="266090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61,1%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030968" y="266090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-11,8 pts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2944368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4088" y="2971800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MARCIALES HERNANDEZ CLAUDIA LILIANA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184648" y="297180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19088" y="297180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653528" y="297180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17,5%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887968" y="297180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61,9%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030968" y="29718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-11 pts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3255264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4088" y="3282696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ESTEBAN VARGAS ARISMENDY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5184648" y="328269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310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419088" y="328269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653528" y="328269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16,1%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887968" y="3282696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62,6%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0030968" y="328269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-10,3 pts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0080" y="3566160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04088" y="359359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PEREZ FERNANDEZ JULIAN SANTIAGO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5184648" y="359359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383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419088" y="359359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58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7653528" y="359359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15,1%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887968" y="359359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63,2%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030968" y="35935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-9,7 pts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40080" y="3877056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04088" y="3904488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CANTILLO RUSSO DAVID DE JESUS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5184648" y="39044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120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6419088" y="39044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7653528" y="39044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15,8%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8887968" y="3904488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63,3%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10030968" y="390448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-9,6 pts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0080" y="4187952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04088" y="421538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TORRES CORREDOR LAURA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5184648" y="421538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133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6419088" y="421538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7653528" y="421538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14,3%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8887968" y="421538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63,9%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10030968" y="42153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-9 pts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0080" y="4498848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04088" y="4526280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Yilcia Amado Ardila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5184648" y="45262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6419088" y="45262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7653528" y="45262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16,0%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8887968" y="452628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64,0%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10030968" y="45262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-8,9 pts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14400" y="517550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Criterio.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se compara contra el NPS de su propio skill (72,9%), no contra el total. La columna Diferencia indica cuántos puntos está por encima o por debajo de ese valor. En Inbound hay 47 agentes de 93 por debajo del promedio del skill; se listan los diez con menor NPS. Se exige un mínimo de 50 encuestas para evitar que un puñado de respuestas determine la posición.</a:t>
            </a:r>
            <a:endParaRPr lang="en-US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utiliza el campo Supervisor: en la base del período figura sin asignar en la totalidad de los registros.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Agentes con menor NPS — Chat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agentes con 50 o más encuestas en el período. NPS del skill: 39,6%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6988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9880" y="4754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48056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39903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120640" y="1371600"/>
            <a:ext cx="12344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84648" y="139903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12344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39903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89520" y="1371600"/>
            <a:ext cx="123444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53528" y="139903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DETRAC.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823960" y="1371600"/>
            <a:ext cx="114300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87968" y="139903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966960" y="1371600"/>
            <a:ext cx="1554480" cy="329184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30968" y="139903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1700784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1728216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BEJARANO MARTINEZ MARIA DE LOS ANGELES AU…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172821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99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172821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53528" y="172821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46,5%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1728216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2,0%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030968" y="172821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-37,6 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011680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" y="203911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YENNY ALEXANDRA MORENO ALEMÁN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184648" y="203911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203911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653528" y="203911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39,2%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887968" y="203911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9,8%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0968" y="2039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-29,8 pts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2322576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" y="2350008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GOMEZ GONZALEZ MARIA FERNANDA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184648" y="235000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19088" y="235000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154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653528" y="235000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31,7%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887968" y="2350008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25,9%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030968" y="23500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-13,7 pts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2633472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4088" y="266090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RAMIREZ LORAINE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184648" y="26609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567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19088" y="26609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653528" y="26609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30,2%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887968" y="266090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27,3%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030968" y="266090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-12,3 pts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2944368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4088" y="2971800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AMAYA JHON JAIRO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184648" y="297180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872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19088" y="297180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268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653528" y="297180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30,7%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887968" y="297180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29,6%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030968" y="29718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-10 pts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3255264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4088" y="3282696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GUTIERREZ ABELLA FRANCY LILIANA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5184648" y="328269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292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419088" y="328269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84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653528" y="328269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28,8%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887968" y="3282696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31,5%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0030968" y="328269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-8,1 pts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0080" y="3566160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04088" y="359359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FELIPE CABRERA MOCETON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5184648" y="359359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277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419088" y="359359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69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7653528" y="359359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24,9%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887968" y="359359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37,2%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030968" y="35935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-2,4 pts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40080" y="3877056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04088" y="3904488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OLAVE NIÑO LAURA VALENTINA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5184648" y="39044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605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6419088" y="39044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150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7653528" y="39044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24,8%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8887968" y="3904488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38,5%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10030968" y="390448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-1,1 pts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0080" y="4187952"/>
            <a:ext cx="10881360" cy="310896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04088" y="421538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KATHLEEN SMITH ARZUZA LLERENA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5184648" y="421538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602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6419088" y="421538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149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7653528" y="421538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24,8%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8887968" y="421538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39,4%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10030968" y="42153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-0,2 pts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0080" y="4498848"/>
            <a:ext cx="10881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04088" y="4526280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ANGELA GABRIELA VON WALDORF CAMACHO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5184648" y="45262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442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6419088" y="45262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103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7653528" y="45262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23,3%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8887968" y="452628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42,3%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10030968" y="45262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+2,7 pts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14400" y="517550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Criterio.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se compara contra el NPS de su propio skill (39,6%), no contra el total. La columna Diferencia indica cuántos puntos está por encima o por debajo de ese valor. En Chat hay 9 agentes de 18 por debajo del promedio del skill; se listan los diez con menor NPS. Se exige un mínimo de 50 encuestas para evitar que un puñado de respuestas determine la posición.</a:t>
            </a:r>
            <a:endParaRPr lang="en-US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utiliza el campo Supervisor: en la base del período figura sin asignar en la totalidad de los registros.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0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920240"/>
            <a:ext cx="5120640" cy="5120640"/>
          </a:xfrm>
          <a:prstGeom prst="ellipse">
            <a:avLst/>
          </a:prstGeom>
          <a:solidFill>
            <a:srgbClr val="4A1D96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Hallazgos del período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7393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922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1746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concentra el deterioro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0299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cierra el período en 39,6% frente a 72,9% de Inbound, y cayó 9,5 puntos entre julio y agosto. Inbound se mantuvo estable.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7614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715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tipificación explica la mayor parte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29992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«Soporte y acompañamiento en la Banca» aporta 691 detractores en Chat sobre 2.113 encuestas, con NPS de 22,7%.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7307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3685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Persona Natural es el proceso de mayor impacto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396849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39,2% de los detractores de Inbound y 37,7% de los de Chat, por volumen de gestión.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81728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700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46542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agentes es mayor en Chat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4937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Chat el rango va de 2,0% a valores cercanos al promedio; en Inbound la dispersión es menor. 9 de 18 agentes de Chat están bajo el promedio de su skill.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815584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9344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40.738 encuestas · junio a agosto de 2026 · Inbound 33.851 · Chat 6.887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Nota metodológica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las cifras y diferencia con las hojas de resumen del archivo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8066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72768"/>
            <a:ext cx="4732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LOS DATOS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65376"/>
            <a:ext cx="47320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«BBDD Encuestas» de los consolidados de junio, julio y agosto de 2026: 40.738 registros individuales de encuesta.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0780" y="1371600"/>
            <a:ext cx="528066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5100" y="1572768"/>
            <a:ext cx="4732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LAS DEMÁS HOJAS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15100" y="1865376"/>
            <a:ext cx="47320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hojas de resumen del archivo (Detallado NPS Agente, Detallado NPS Proceso, Profundización) provienen de una tabla dinámica cuya caché contiene 123.031 registros de 2025 y 2026. No corresponden al período de este informe y por eso sus cifras difieren.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528066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538728"/>
            <a:ext cx="4732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DEL INDICADOR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31336"/>
            <a:ext cx="47320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= porcentaje de promotores menos porcentaje de detractores sobre las encuestas con clasificación. Los neutros integran la base pero no suman ni restan.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0780" y="3337560"/>
            <a:ext cx="528066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5100" y="3538728"/>
            <a:ext cx="4732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POR SKILL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3831336"/>
            <a:ext cx="47320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califica de 0 a 9 (promotor 8-9) y Chat de 0 a 10 (promotor 9-10). Una misma nota no equivale a la misma categoría en los dos skills, por lo que no se comparan notas entre skills ni se emplea la nota cruda.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aplicados: 50 encuestas por agente; 120 encuestas por proceso y 100 por subproceso en Inbound; 40 en Chat, dado su menor volumen.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00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por la supervisión de Skill Inbound · agosto de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 NPS — Junio a agosto 2026</dc:title>
  <dc:subject>PptxGenJS Presentation</dc:subject>
  <dc:creator>PptxGenJS</dc:creator>
  <cp:lastModifiedBy>PptxGenJS</cp:lastModifiedBy>
  <cp:revision>1</cp:revision>
  <dcterms:created xsi:type="dcterms:W3CDTF">2026-08-27T00:59:53Z</dcterms:created>
  <dcterms:modified xsi:type="dcterms:W3CDTF">2026-08-27T00:59:53Z</dcterms:modified>
</cp:coreProperties>
</file>